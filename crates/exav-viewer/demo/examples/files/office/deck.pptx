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sz="1300" strike="noStrike" u="none">
                <a:solidFill>
                  <a:srgbClr val="000000"/>
                </a:solidFill>
                <a:uFillTx/>
                <a:latin typeface="Arial"/>
              </a:rPr>
              <a:t>Berths let by month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146c9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>
                  <a:solidFill>
                    <a:srgbClr val="146c94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20</c:v>
                </c:pt>
                <c:pt idx="1">
                  <c:v>26</c:v>
                </c:pt>
                <c:pt idx="2">
                  <c:v>32</c:v>
                </c:pt>
                <c:pt idx="3">
                  <c:v>38</c:v>
                </c:pt>
                <c:pt idx="4">
                  <c:v>44</c:v>
                </c:pt>
                <c:pt idx="5">
                  <c:v>50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Last year</c:v>
                </c:pt>
              </c:strCache>
            </c:strRef>
          </c:tx>
          <c:spPr>
            <a:solidFill>
              <a:srgbClr val="f6a01a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>
                  <a:solidFill>
                    <a:srgbClr val="f6a01a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6"/>
                <c:pt idx="0">
                  <c:v>18</c:v>
                </c:pt>
                <c:pt idx="1">
                  <c:v>23</c:v>
                </c:pt>
                <c:pt idx="2">
                  <c:v>28</c:v>
                </c:pt>
                <c:pt idx="3">
                  <c:v>33</c:v>
                </c:pt>
                <c:pt idx="4">
                  <c:v>38</c:v>
                </c:pt>
                <c:pt idx="5">
                  <c:v>43</c:v>
                </c:pt>
              </c:numCache>
            </c:numRef>
          </c:val>
        </c:ser>
        <c:gapWidth val="100"/>
        <c:overlap val="0"/>
        <c:axId val="37442678"/>
        <c:axId val="31222418"/>
      </c:barChart>
      <c:catAx>
        <c:axId val="37442678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one"/>
        <c:spPr>
          <a:ln w="0">
            <a:solidFill>
              <a:srgbClr val="000000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31222418"/>
        <c:crosses val="autoZero"/>
        <c:auto val="1"/>
        <c:lblAlgn val="ctr"/>
        <c:lblOffset val="100"/>
        <c:noMultiLvlLbl val="0"/>
      </c:catAx>
      <c:valAx>
        <c:axId val="31222418"/>
        <c:scaling>
          <c:orientation val="minMax"/>
        </c:scaling>
        <c:delete val="0"/>
        <c:axPos val="l"/>
        <c:majorGridlines>
          <c:spPr>
            <a:ln w="0">
              <a:solidFill>
                <a:srgbClr val="000000"/>
              </a:solidFill>
            </a:ln>
          </c:spPr>
        </c:majorGridlines>
        <c:numFmt formatCode="General" sourceLinked="1"/>
        <c:majorTickMark val="out"/>
        <c:minorTickMark val="none"/>
        <c:tickLblPos val="none"/>
        <c:spPr>
          <a:ln w="0">
            <a:solidFill>
              <a:srgbClr val="000000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37442678"/>
        <c:crosses val="autoZero"/>
        <c:crossBetween val="between"/>
      </c:valAx>
      <c:spPr>
        <a:solidFill>
          <a:srgbClr val="d9d9d9"/>
        </a:solidFill>
        <a:ln w="0">
          <a:noFill/>
        </a:ln>
      </c:spPr>
    </c:plotArea>
    <c:legend>
      <c:legendPos val="r"/>
      <c:overlay val="0"/>
      <c:spPr>
        <a:noFill/>
        <a:ln w="0">
          <a:solidFill>
            <a:srgbClr val="000000"/>
          </a:solidFill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</a:defRPr>
          </a:pPr>
        </a:p>
      </c:txPr>
    </c:legend>
    <c:plotVisOnly val="0"/>
    <c:dispBlanksAs val="gap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7348774-463E-488F-AB5E-D75CFD5D921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ldImg"/>
          </p:nvPr>
        </p:nvSpPr>
        <p:spPr>
          <a:xfrm>
            <a:off x="1152000" y="720000"/>
            <a:ext cx="5328000" cy="2988000"/>
          </a:xfrm>
          <a:prstGeom prst="rect">
            <a:avLst/>
          </a:prstGeom>
          <a:ln w="0">
            <a:noFill/>
          </a:ln>
        </p:spPr>
      </p:sp>
      <p:sp>
        <p:nvSpPr>
          <p:cNvPr id="33" name=""/>
          <p:cNvSpPr txBox="1"/>
          <p:nvPr/>
        </p:nvSpPr>
        <p:spPr>
          <a:xfrm>
            <a:off x="720000" y="3960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Welcome. These notes are speaker notes: the viewer does not show them.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ldImg"/>
          </p:nvPr>
        </p:nvSpPr>
        <p:spPr>
          <a:xfrm>
            <a:off x="1152000" y="720000"/>
            <a:ext cx="5328000" cy="2988000"/>
          </a:xfrm>
          <a:prstGeom prst="rect">
            <a:avLst/>
          </a:prstGeom>
          <a:ln w="0">
            <a:noFill/>
          </a:ln>
        </p:spPr>
      </p:sp>
      <p:sp>
        <p:nvSpPr>
          <p:cNvPr id="35" name=""/>
          <p:cNvSpPr txBox="1"/>
          <p:nvPr/>
        </p:nvSpPr>
        <p:spPr>
          <a:xfrm>
            <a:off x="720000" y="3960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 items.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Img"/>
          </p:nvPr>
        </p:nvSpPr>
        <p:spPr>
          <a:xfrm>
            <a:off x="1152000" y="720000"/>
            <a:ext cx="5328000" cy="2988000"/>
          </a:xfrm>
          <a:prstGeom prst="rect">
            <a:avLst/>
          </a:prstGeom>
          <a:ln w="0">
            <a:noFill/>
          </a:ln>
        </p:spPr>
      </p:sp>
      <p:sp>
        <p:nvSpPr>
          <p:cNvPr id="37" name=""/>
          <p:cNvSpPr txBox="1"/>
          <p:nvPr/>
        </p:nvSpPr>
        <p:spPr>
          <a:xfrm>
            <a:off x="720000" y="3960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chart is a native chart, with its data inside the slide.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1152000" y="720000"/>
            <a:ext cx="5328000" cy="2988000"/>
          </a:xfrm>
          <a:prstGeom prst="rect">
            <a:avLst/>
          </a:prstGeom>
          <a:ln w="0">
            <a:noFill/>
          </a:ln>
        </p:spPr>
      </p:sp>
      <p:sp>
        <p:nvSpPr>
          <p:cNvPr id="39" name=""/>
          <p:cNvSpPr txBox="1"/>
          <p:nvPr/>
        </p:nvSpPr>
        <p:spPr>
          <a:xfrm>
            <a:off x="720000" y="3960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Shapes with gradients, arrows and text.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309F33-728B-4EE1-9D91-AF6DB24C8999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FC6119-2378-4EB0-A8A9-25E78BE6AE2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490000"/>
            <a:ext cx="10080000" cy="180000"/>
          </a:xfrm>
          <a:prstGeom prst="rect">
            <a:avLst/>
          </a:prstGeom>
          <a:gradFill rotWithShape="0">
            <a:gsLst>
              <a:gs pos="0">
                <a:srgbClr val="0b4f6c"/>
              </a:gs>
              <a:gs pos="100000">
                <a:srgbClr val="3fa7d6"/>
              </a:gs>
            </a:gsLst>
            <a:lin ang="3600000"/>
          </a:gra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ftr" idx="1"/>
          </p:nvPr>
        </p:nvSpPr>
        <p:spPr>
          <a:xfrm>
            <a:off x="360000" y="5112000"/>
            <a:ext cx="4320000" cy="337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8640000" y="5112000"/>
            <a:ext cx="1080000" cy="337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fld id="{7620DA35-A835-4DA3-A13A-4C4470EE70C2}" type="slidenum"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b4f6c"/>
            </a:gs>
            <a:gs pos="100000">
              <a:srgbClr val="3fa7d6"/>
            </a:gs>
          </a:gsLst>
          <a:lin ang="36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0000" y="162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Harbour review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720000" y="288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2400" strike="noStrike" u="none">
                <a:solidFill>
                  <a:srgbClr val="dbe9f4"/>
                </a:solidFill>
                <a:effectLst/>
                <a:uFillTx/>
                <a:latin typeface="Arial"/>
              </a:rPr>
              <a:t>The east quay, first half of the year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6840000" y="3420000"/>
            <a:ext cx="2520000" cy="2520000"/>
          </a:xfrm>
          <a:prstGeom prst="ellipse">
            <a:avLst/>
          </a:prstGeom>
          <a:gradFill rotWithShape="0">
            <a:gsLst>
              <a:gs pos="0">
                <a:srgbClr val="0b4f6c"/>
              </a:gs>
              <a:gs pos="100000">
                <a:srgbClr val="3fa7d6"/>
              </a:gs>
            </a:gsLst>
            <a:lin ang="3600000"/>
          </a:gradFill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exav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1000" p14:dur="2000"/>
    </mc:Choice>
    <mc:Fallback>
      <p:transition spd="slow" advTm="100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0000" y="288000"/>
            <a:ext cx="864000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1" lang="en-US" sz="3000" strike="noStrike" u="none">
                <a:solidFill>
                  <a:srgbClr val="0b4f6c"/>
                </a:solidFill>
                <a:effectLst/>
                <a:uFillTx/>
                <a:latin typeface="Arial"/>
              </a:rPr>
              <a:t>Agenda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720000" y="1368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216000" indent="-216000">
              <a:spcBef>
                <a:spcPts val="1417"/>
              </a:spcBef>
              <a:buClr>
                <a:srgbClr val="146c94"/>
              </a:buClr>
              <a:buSzPct val="45000"/>
              <a:buFont typeface=""/>
              <a:buChar char="●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Where we are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04000" indent="-216000">
              <a:spcBef>
                <a:spcPts val="1134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berths let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92000" indent="-216000">
              <a:spcBef>
                <a:spcPts val="850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by length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92000" indent="-216000">
              <a:spcBef>
                <a:spcPts val="850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by season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04000" indent="-216000">
              <a:spcBef>
                <a:spcPts val="1134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visitors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146c94"/>
              </a:buClr>
              <a:buSzPct val="45000"/>
              <a:buFont typeface=""/>
              <a:buChar char="●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the figures say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146c94"/>
              </a:buClr>
              <a:buSzPct val="45000"/>
              <a:buFont typeface=""/>
              <a:buChar char="●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we do next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04000" indent="-216000">
              <a:spcBef>
                <a:spcPts val="1134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order the new chain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04000" indent="-216000">
              <a:spcBef>
                <a:spcPts val="1134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paint the numbers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cover dir="r"/>
      </p:transition>
    </mc:Choice>
    <mc:Fallback>
      <p:transition spd="slow">
        <p:cover dir="r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0000" y="288000"/>
            <a:ext cx="864000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1" lang="en-US" sz="3000" strike="noStrike" u="none">
                <a:solidFill>
                  <a:srgbClr val="0b4f6c"/>
                </a:solidFill>
                <a:effectLst/>
                <a:uFillTx/>
                <a:latin typeface="Arial"/>
              </a:rPr>
              <a:t>Berths let, month by month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" name=""/>
          <p:cNvGraphicFramePr/>
          <p:nvPr/>
        </p:nvGraphicFramePr>
        <p:xfrm>
          <a:off x="720000" y="1296000"/>
          <a:ext cx="6840000" cy="39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"/>
          <p:cNvSpPr/>
          <p:nvPr/>
        </p:nvSpPr>
        <p:spPr>
          <a:xfrm>
            <a:off x="7744320" y="2217600"/>
            <a:ext cx="1971360" cy="244080"/>
          </a:xfrm>
          <a:prstGeom prst="wedgeRoundRectCallout">
            <a:avLst>
              <a:gd name="adj1" fmla="val -43722"/>
              <a:gd name="adj2" fmla="val 309495"/>
              <a:gd name="adj3" fmla="val 16667"/>
            </a:avLst>
          </a:prstGeom>
          <a:solidFill>
            <a:srgbClr val="fdecea"/>
          </a:solidFill>
          <a:ln w="0">
            <a:solidFill>
              <a:srgbClr val="c0392b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spAutoFit/>
          </a:bodyPr>
          <a:p>
            <a:pPr algn="ctr"/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Up 40% on last year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cover dir="r"/>
      </p:transition>
    </mc:Choice>
    <mc:Fallback>
      <p:transition spd="slow">
        <p:cover dir="r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0000" y="288000"/>
            <a:ext cx="864000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1" lang="en-US" sz="3000" strike="noStrike" u="none">
                <a:solidFill>
                  <a:srgbClr val="0b4f6c"/>
                </a:solidFill>
                <a:effectLst/>
                <a:uFillTx/>
                <a:latin typeface="Arial"/>
              </a:rPr>
              <a:t>Fees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" name=""/>
          <p:cNvGraphicFramePr/>
          <p:nvPr/>
        </p:nvGraphicFramePr>
        <p:xfrm>
          <a:off x="720000" y="1440000"/>
          <a:ext cx="5760000" cy="2880000"/>
        </p:xfrm>
        <a:graphic>
          <a:graphicData uri="http://schemas.openxmlformats.org/drawingml/2006/table">
            <a:tbl>
              <a:tblPr/>
              <a:tblGrid>
                <a:gridCol w="2160000"/>
                <a:gridCol w="1800000"/>
                <a:gridCol w="1800000"/>
              </a:tblGrid>
              <a:tr h="576000">
                <a:tc>
                  <a:txBody>
                    <a:bodyPr lIns="54000" rIns="54000" tIns="54000" bIns="54000" anchor="t">
                      <a:noAutofit/>
                    </a:bodyPr>
                    <a:p>
                      <a:pPr algn="ctr"/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Length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 lIns="54000" rIns="54000" tIns="54000" bIns="54000" anchor="t">
                      <a:noAutofit/>
                    </a:bodyPr>
                    <a:p>
                      <a:pPr algn="ctr"/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Berths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 lIns="54000" rIns="54000" tIns="54000" bIns="54000" anchor="t">
                      <a:noAutofit/>
                    </a:bodyPr>
                    <a:p>
                      <a:pPr algn="ctr"/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Fee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0b4f6c"/>
                    </a:solidFill>
                  </a:tcPr>
                </a:tc>
              </a:tr>
              <a:tr h="576000">
                <a:tc>
                  <a:txBody>
                    <a:bodyPr lIns="54000" rIns="54000" tIns="54000" bIns="54000" anchor="t">
                      <a:noAutofit/>
                    </a:bodyPr>
                    <a:p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up to 6 m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54000" bIns="54000" anchor="t">
                      <a:noAutofit/>
                    </a:bodyPr>
                    <a:p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54000" bIns="54000" anchor="t">
                      <a:noAutofit/>
                    </a:bodyPr>
                    <a:p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18.00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 lIns="54000" rIns="54000" tIns="54000" bIns="54000" anchor="t">
                      <a:noAutofit/>
                    </a:bodyPr>
                    <a:p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 to 8 m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54000" bIns="54000" anchor="t">
                      <a:noAutofit/>
                    </a:bodyPr>
                    <a:p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54000" bIns="54000" anchor="t">
                      <a:noAutofit/>
                    </a:bodyPr>
                    <a:p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24.50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 lIns="54000" rIns="54000" tIns="54000" bIns="54000" anchor="t">
                      <a:noAutofit/>
                    </a:bodyPr>
                    <a:p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 to 10 m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54000" bIns="54000" anchor="t">
                      <a:noAutofit/>
                    </a:bodyPr>
                    <a:p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54000" bIns="54000" anchor="t">
                      <a:noAutofit/>
                    </a:bodyPr>
                    <a:p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31.00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 lIns="54000" rIns="54000" tIns="54000" bIns="54000" anchor="t">
                      <a:noAutofit/>
                    </a:bodyPr>
                    <a:p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over 10 m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54000" bIns="54000" anchor="t">
                      <a:noAutofit/>
                    </a:bodyPr>
                    <a:p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000" rIns="54000" tIns="54000" bIns="54000" anchor="t">
                      <a:noAutofit/>
                    </a:bodyPr>
                    <a:p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48.00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000" marR="54000">
                    <a:lnL w="12960">
                      <a:solidFill>
                        <a:srgbClr val="8aa6b4"/>
                      </a:solidFill>
                      <a:prstDash val="solid"/>
                    </a:lnL>
                    <a:lnR w="12960">
                      <a:solidFill>
                        <a:srgbClr val="8aa6b4"/>
                      </a:solidFill>
                      <a:prstDash val="solid"/>
                    </a:lnR>
                    <a:lnT w="12960">
                      <a:solidFill>
                        <a:srgbClr val="8aa6b4"/>
                      </a:solidFill>
                      <a:prstDash val="solid"/>
                    </a:lnT>
                    <a:lnB w="12960">
                      <a:solidFill>
                        <a:srgbClr val="8aa6b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840000" y="1440000"/>
            <a:ext cx="288000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146c94"/>
              </a:buClr>
              <a:buSzPct val="45000"/>
              <a:buFont typeface=""/>
              <a:buChar char="●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Season fee includes water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146c94"/>
              </a:buClr>
              <a:buSzPct val="45000"/>
              <a:buFont typeface=""/>
              <a:buChar char="●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 is metered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146c94"/>
              </a:buClr>
              <a:buSzPct val="45000"/>
              <a:buFont typeface=""/>
              <a:buChar char="●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Visitors pay by the night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cover dir="r"/>
      </p:transition>
    </mc:Choice>
    <mc:Fallback>
      <p:transition spd="slow">
        <p:cover dir="r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0000" y="288000"/>
            <a:ext cx="864000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1" lang="en-US" sz="3000" strike="noStrike" u="none">
                <a:solidFill>
                  <a:srgbClr val="0b4f6c"/>
                </a:solidFill>
                <a:effectLst/>
                <a:uFillTx/>
                <a:latin typeface="Arial"/>
              </a:rPr>
              <a:t>A picture and shapes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720000" y="1440000"/>
            <a:ext cx="4608000" cy="259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"/>
          <p:cNvSpPr/>
          <p:nvPr/>
        </p:nvSpPr>
        <p:spPr>
          <a:xfrm>
            <a:off x="5760000" y="1440000"/>
            <a:ext cx="1440000" cy="864000"/>
          </a:xfrm>
          <a:prstGeom prst="rect">
            <a:avLst/>
          </a:prstGeom>
          <a:gradFill rotWithShape="0">
            <a:gsLst>
              <a:gs pos="0">
                <a:srgbClr val="0b4f6c"/>
              </a:gs>
              <a:gs pos="100000">
                <a:srgbClr val="3fa7d6"/>
              </a:gs>
            </a:gsLst>
            <a:lin ang="3600000"/>
          </a:gradFill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Start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7200000" y="1872000"/>
            <a:ext cx="900000" cy="0"/>
          </a:xfrm>
          <a:prstGeom prst="line">
            <a:avLst/>
          </a:prstGeom>
          <a:ln w="3600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8000" rIns="18000" tIns="-18000" bIns="-18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8208000" y="1440000"/>
            <a:ext cx="1224000" cy="864000"/>
          </a:xfrm>
          <a:prstGeom prst="ellipse">
            <a:avLst/>
          </a:prstGeom>
          <a:solidFill>
            <a:srgbClr val="7bc67e"/>
          </a:solidFill>
          <a:ln w="28800">
            <a:solidFill>
              <a:srgbClr val="1c6e3e"/>
            </a:solidFill>
            <a:round/>
          </a:ln>
        </p:spPr>
        <p:txBody>
          <a:bodyPr lIns="14400" rIns="14400" tIns="14400" bIns="14400" anchor="ctr" anchorCtr="1">
            <a:noAutofit/>
          </a:bodyPr>
          <a:p>
            <a:pPr algn="ctr"/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8820000" y="2304000"/>
            <a:ext cx="0" cy="720000"/>
          </a:xfrm>
          <a:prstGeom prst="line">
            <a:avLst/>
          </a:prstGeom>
          <a:ln w="36000">
            <a:solidFill>
              <a:srgbClr val="3333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8000" rIns="18000" tIns="18000" bIns="18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8100000" y="3060000"/>
            <a:ext cx="1440360" cy="1080360"/>
          </a:xfrm>
          <a:custGeom>
            <a:avLst/>
            <a:gdLst/>
            <a:ahLst/>
            <a:rect l="0" t="0" r="r" b="b"/>
            <a:pathLst>
              <a:path w="4001" h="3001">
                <a:moveTo>
                  <a:pt x="2001" y="0"/>
                </a:moveTo>
                <a:lnTo>
                  <a:pt x="4001" y="1501"/>
                </a:lnTo>
                <a:lnTo>
                  <a:pt x="2001" y="3001"/>
                </a:lnTo>
                <a:lnTo>
                  <a:pt x="0" y="1501"/>
                </a:lnTo>
                <a:lnTo>
                  <a:pt x="2001" y="0"/>
                </a:lnTo>
                <a:close/>
              </a:path>
            </a:pathLst>
          </a:custGeom>
          <a:solidFill>
            <a:srgbClr val="ffe08a"/>
          </a:solidFill>
          <a:ln w="0">
            <a:solidFill>
              <a:srgbClr val="7a5c00"/>
            </a:solidFill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Pay?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6166440" y="3260520"/>
            <a:ext cx="986040" cy="678960"/>
          </a:xfrm>
          <a:prstGeom prst="star5">
            <a:avLst/>
          </a:prstGeom>
          <a:gradFill rotWithShape="0">
            <a:gsLst>
              <a:gs pos="0">
                <a:srgbClr val="c0392b"/>
              </a:gs>
              <a:gs pos="100000">
                <a:srgbClr val="f6a01a"/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spAutoFit/>
          </a:bodyPr>
          <a:p>
            <a:pPr algn="ctr"/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cover dir="r"/>
      </p:transition>
    </mc:Choice>
    <mc:Fallback>
      <p:transition spd="slow">
        <p:cover dir="r"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LibreOffice/25.2.3.2$Linux_AARCH64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2000-01-01T00:00:00Z</dcterms:created>
  <dc:creator>exav project</dc:creator>
  <dc:description/>
  <dc:language>en-US</dc:language>
  <cp:lastModifiedBy/>
  <cp:revision>0</cp:revision>
  <dc:subject>A deck made for the exav demo (CC0-1.0)</dc:subject>
  <dc:title>Harbour review</dc:title>
</cp:coreProperties>
</file>